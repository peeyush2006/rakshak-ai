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79e9db54d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79e9db54d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79e9db54d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79e9db54d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79e9db54d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79e9db54d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79e9db54d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79e9db54d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79e9db54d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79e9db54d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79e9db54d7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79e9db54d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79e9db54d7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79e9db54d7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3fd15ea4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e3fd15ea4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79e9db54d7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79e9db54d7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79e9db54d7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79e9db54d7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79e9db54d7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79e9db54d7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79e9db54d7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79e9db54d7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79e9db54d7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79e9db54d7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5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460650" y="3183225"/>
            <a:ext cx="8222700" cy="17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0" spcFirstLastPara="1" wrap="square" tIns="9144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400"/>
              </a:spcAft>
              <a:buNone/>
              <a:defRPr sz="2400" b="1">
                <a:solidFill>
                  <a:srgbClr val="00B4D8"/>
                </a:solidFill>
                <a:latin typeface="Arial"/>
              </a:defRPr>
            </a:pPr>
            <a:r>
              <a:t>Team Details</a:t>
            </a:r>
            <a:endParaRPr b="1" sz="1500"/>
          </a:p>
          <a:p>
            <a:pPr>
              <a:spcAft>
                <a:spcPts val="800"/>
              </a:spcAft>
              <a:defRPr sz="1400" b="0">
                <a:solidFill>
                  <a:srgbClr val="F8FAFC"/>
                </a:solidFill>
                <a:latin typeface="Arial"/>
              </a:defRPr>
            </a:pPr>
            <a:r>
              <a:t>Team name: </a:t>
            </a:r>
            <a:r>
              <a:t>Rakshak Creators</a:t>
            </a:r>
          </a:p>
          <a:p>
            <a:pPr>
              <a:spcAft>
                <a:spcPts val="800"/>
              </a:spcAft>
              <a:defRPr sz="1400" b="0">
                <a:solidFill>
                  <a:srgbClr val="F8FAFC"/>
                </a:solidFill>
                <a:latin typeface="Arial"/>
              </a:defRPr>
            </a:pPr>
            <a:r>
              <a:t>Team leader name: </a:t>
            </a:r>
            <a:r>
              <a:t>Peeyush</a:t>
            </a:r>
          </a:p>
          <a:p>
            <a:pPr>
              <a:spcAft>
                <a:spcPts val="800"/>
              </a:spcAft>
              <a:defRPr sz="1400" b="0">
                <a:solidFill>
                  <a:srgbClr val="F8FAFC"/>
                </a:solidFill>
                <a:latin typeface="Arial"/>
              </a:defRPr>
            </a:pPr>
            <a:r>
              <a:t>Team size: </a:t>
            </a:r>
            <a:r>
              <a:t>1</a:t>
            </a:r>
          </a:p>
          <a:p>
            <a:pPr>
              <a:spcAft>
                <a:spcPts val="800"/>
              </a:spcAft>
              <a:defRPr sz="1400" b="0">
                <a:solidFill>
                  <a:srgbClr val="F8FAFC"/>
                </a:solidFill>
                <a:latin typeface="Arial"/>
              </a:defRPr>
            </a:pPr>
            <a:r>
              <a:t>Problem Statement: </a:t>
            </a:r>
            <a:r>
              <a:t>Siloed crime intelligence records, lack of bilingual (English/Kannada) voice tools for regional police officers, and absence of unified link discovery, heatmap analytics, and role-based audit compliance ledgers.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 txBox="1"/>
          <p:nvPr/>
        </p:nvSpPr>
        <p:spPr>
          <a:xfrm>
            <a:off x="318650" y="6979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00B4D8"/>
                </a:solidFill>
                <a:latin typeface="Arial"/>
              </a:defRPr>
            </a:pPr>
            <a:r>
              <a:t>Brief About The Solution</a:t>
            </a:r>
            <a:endParaRPr b="1" sz="1600"/>
          </a:p>
        </p:txBody>
      </p:sp>
      <p:sp>
        <p:nvSpPr>
          <p:cNvPr id="61" name="TextBox 60"/>
          <p:cNvSpPr txBox="1"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/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Arial"/>
              </a:defRPr>
            </a:pPr>
            <a:r>
              <a:t>• Rakshak AI (ರಕ್ಷಕ್ AI) is a next-generation crime intelligence and conversational pattern discovery platform built for the Karnataka Police.</a:t>
            </a:r>
          </a:p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Arial"/>
              </a:defRPr>
            </a:pPr>
            <a:r>
              <a:t>• Bilingual Conversational Interface: Allows investigators and field officers to query crime records in English and Kannada (Speech-to-Text &amp; Text-to-Speech).</a:t>
            </a:r>
          </a:p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Arial"/>
              </a:defRPr>
            </a:pPr>
            <a:r>
              <a:t>• Proactive Crime Warning System: Automatically detects crime cluster patterns and spatial shifts based on Modus Operandi (M.O.) and triggers preventive warnings.</a:t>
            </a:r>
          </a:p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Arial"/>
              </a:defRPr>
            </a:pPr>
            <a:r>
              <a:t>• Interactive Network Connection Graph: Charts connections between suspects, vehicle uses, phone call logs, locations, and syndicate affiliations in a draggable visual canvas.</a:t>
            </a:r>
          </a:p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Arial"/>
              </a:defRPr>
            </a:pPr>
            <a:r>
              <a:t>• GIS Hotspot Heatmap: Integrates district-level safety indexes, police station deployment resources, and threat rate mappings to assist in active asset dispatching.</a:t>
            </a:r>
          </a:p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Arial"/>
              </a:defRPr>
            </a:pPr>
            <a:r>
              <a:t>• Compliance Ledger Auditing: Implements secure cryptographic logs with Role-Based Access Control (RBAC) to ensure compliance and record data checks.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 txBox="1"/>
          <p:nvPr/>
        </p:nvSpPr>
        <p:spPr>
          <a:xfrm>
            <a:off x="240800" y="7106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00B4D8"/>
                </a:solidFill>
                <a:latin typeface="Arial"/>
              </a:defRPr>
            </a:pPr>
            <a:r>
              <a:t>Opportunities &amp; USP</a:t>
            </a:r>
            <a:endParaRPr b="1" sz="1600">
              <a:solidFill>
                <a:srgbClr val="000000"/>
              </a:solidFill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/>
          <a:p>
            <a:pPr>
              <a:spcAft>
                <a:spcPts val="1000"/>
              </a:spcAft>
              <a:defRPr sz="1300" b="0">
                <a:solidFill>
                  <a:srgbClr val="F8FAFC"/>
                </a:solidFill>
                <a:latin typeface="Arial"/>
              </a:defRPr>
            </a:pPr>
            <a:r>
              <a:t>• How different is it from other ideas? </a:t>
            </a:r>
            <a:r>
              <a:t>First system to offer dual-language voice capabilities (English/Kannada) tailored for Indian regional officers. Exposes Explainable AI (XAI) reasoning decision trees directly to users, and is built in a mobile-optimized shell with bottom-navigation and adaptive list cards.</a:t>
            </a:r>
          </a:p>
          <a:p>
            <a:pPr>
              <a:spcAft>
                <a:spcPts val="1000"/>
              </a:spcAft>
              <a:defRPr sz="1300" b="0">
                <a:solidFill>
                  <a:srgbClr val="F8FAFC"/>
                </a:solidFill>
                <a:latin typeface="Arial"/>
              </a:defRPr>
            </a:pPr>
            <a:r>
              <a:t>• How will it be able to solve the problem? </a:t>
            </a:r>
            <a:r>
              <a:t>Consolidates siloed data fields (vehicles, phone calls, crime categories) into an interactive link graph. Generates early warning system notifications based on spatial shifts to pre-emptively deploy police resources.</a:t>
            </a:r>
          </a:p>
          <a:p>
            <a:pPr>
              <a:spcAft>
                <a:spcPts val="1000"/>
              </a:spcAft>
              <a:defRPr sz="1300" b="0">
                <a:solidFill>
                  <a:srgbClr val="F8FAFC"/>
                </a:solidFill>
                <a:latin typeface="Arial"/>
              </a:defRPr>
            </a:pPr>
            <a:r>
              <a:t>• USP of the proposed solution: </a:t>
            </a:r>
            <a:r>
              <a:t>A unified dark-themed dashboard combining Bilingual Conversational AI, Touch-draggable Network Graphs, GIS Heatmap overlays, and Cryptographic Compliance Ledgers under strict Role-Based Access Control.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00B4D8"/>
                </a:solidFill>
                <a:latin typeface="Arial"/>
              </a:defRPr>
            </a:pPr>
            <a:r>
              <a:t>Key Features Offered</a:t>
            </a:r>
            <a:endParaRPr b="1" sz="1800"/>
          </a:p>
        </p:txBody>
      </p:sp>
      <p:sp>
        <p:nvSpPr>
          <p:cNvPr id="73" name="TextBox 72"/>
          <p:cNvSpPr txBox="1"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/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Arial"/>
              </a:defRPr>
            </a:pPr>
            <a:r>
              <a:t>• Voice-to-Voice Bilingual Search: Command processing and briefing read-back in English and Kannada.</a:t>
            </a:r>
          </a:p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Arial"/>
              </a:defRPr>
            </a:pPr>
            <a:r>
              <a:t>• Proactive Crime Warning System: Early warning banners highlighting MO and spatial shift risks.</a:t>
            </a:r>
          </a:p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Arial"/>
              </a:defRPr>
            </a:pPr>
            <a:r>
              <a:t>• Interactive Link Graph: Touch-draggable visual canvas mapping suspects, phone calls, vehicles, and syndicates.</a:t>
            </a:r>
          </a:p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Arial"/>
              </a:defRPr>
            </a:pPr>
            <a:r>
              <a:t>• GIS Hotspot Heatmap: Interactive map display showing crime rate/100k, safety scores, and police presence.</a:t>
            </a:r>
          </a:p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Arial"/>
              </a:defRPr>
            </a:pPr>
            <a:r>
              <a:t>• Solved Rate &amp; Response Telemetry: Visual telemetry showing SOLVED RATE (76.4%) and RESPONSE TIME (9.4 Min).</a:t>
            </a:r>
          </a:p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Arial"/>
              </a:defRPr>
            </a:pPr>
            <a:r>
              <a:t>• Cryptographic Audit Logs: Role-Based Access Control (RBAC) preventing unauthorized modifications with compliance dispatcher alerts.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7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7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00B4D8"/>
                </a:solidFill>
                <a:latin typeface="Arial"/>
              </a:defRPr>
            </a:pPr>
            <a:r>
              <a:t>Process Flow Diagram</a:t>
            </a:r>
            <a:endParaRPr b="1" sz="1800"/>
          </a:p>
        </p:txBody>
      </p:sp>
      <p:sp>
        <p:nvSpPr>
          <p:cNvPr id="79" name="TextBox 78"/>
          <p:cNvSpPr txBox="1"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/>
          <a:p>
            <a:pPr>
              <a:spcAft>
                <a:spcPts val="800"/>
              </a:spcAft>
              <a:defRPr sz="1300" b="0">
                <a:solidFill>
                  <a:srgbClr val="F8FAFC"/>
                </a:solidFill>
                <a:latin typeface="Arial"/>
              </a:defRPr>
            </a:pPr>
            <a:r>
              <a:t>1. Officer Input: Voice (Speech-to-Text) or typed text query in English or Kannada.</a:t>
            </a:r>
          </a:p>
          <a:p>
            <a:pPr>
              <a:spcAft>
                <a:spcPts val="800"/>
              </a:spcAft>
              <a:defRPr sz="1300" b="0">
                <a:solidFill>
                  <a:srgbClr val="F8FAFC"/>
                </a:solidFill>
                <a:latin typeface="Arial"/>
              </a:defRPr>
            </a:pPr>
            <a:r>
              <a:t>2. Natural Language Parsing (NLP): Detects language, extracts key entities (names, MO, locations, phone numbers).</a:t>
            </a:r>
          </a:p>
          <a:p>
            <a:pPr>
              <a:spcAft>
                <a:spcPts val="800"/>
              </a:spcAft>
              <a:defRPr sz="1300" b="0">
                <a:solidFill>
                  <a:srgbClr val="F8FAFC"/>
                </a:solidFill>
                <a:latin typeface="Arial"/>
              </a:defRPr>
            </a:pPr>
            <a:r>
              <a:t>3. CrimeSearch Engine: Runs pattern matching on case records, computes confidence index, and drafts reasoning decision trails.</a:t>
            </a:r>
          </a:p>
          <a:p>
            <a:pPr>
              <a:spcAft>
                <a:spcPts val="800"/>
              </a:spcAft>
              <a:defRPr sz="1300" b="0">
                <a:solidFill>
                  <a:srgbClr val="F8FAFC"/>
                </a:solidFill>
                <a:latin typeface="Arial"/>
              </a:defRPr>
            </a:pPr>
            <a:r>
              <a:t>4. Dynamic Dashboard Synchronization: Updates link graph nodes, highlights active districts on the GIS heatmap, and generates alert banners.</a:t>
            </a:r>
          </a:p>
          <a:p>
            <a:pPr>
              <a:spcAft>
                <a:spcPts val="800"/>
              </a:spcAft>
              <a:defRPr sz="1300" b="0">
                <a:solidFill>
                  <a:srgbClr val="F8FAFC"/>
                </a:solidFill>
                <a:latin typeface="Arial"/>
              </a:defRPr>
            </a:pPr>
            <a:r>
              <a:t>5. Dossier Delivery: Renders biometric details and operational history in a clean, overlay card layout.</a:t>
            </a:r>
          </a:p>
          <a:p>
            <a:pPr>
              <a:spcAft>
                <a:spcPts val="800"/>
              </a:spcAft>
              <a:defRPr sz="1300" b="0">
                <a:solidFill>
                  <a:srgbClr val="F8FAFC"/>
                </a:solidFill>
                <a:latin typeface="Arial"/>
              </a:defRPr>
            </a:pPr>
            <a:r>
              <a:t>6. Cryptographic Auditing: Validates officer role credentials (RBAC). Passes authorized requests and logs/blocks unauthorized ledger accesses.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8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8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00B4D8"/>
                </a:solidFill>
                <a:latin typeface="Arial"/>
              </a:defRPr>
            </a:pPr>
            <a:r>
              <a:t>UI Mockups &amp; Mobile Wireframes</a:t>
            </a:r>
            <a:endParaRPr b="1" sz="1800"/>
          </a:p>
        </p:txBody>
      </p:sp>
      <p:pic>
        <p:nvPicPr>
          <p:cNvPr id="85" name="Picture 84" descr="rakshak_ai_mock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1371600"/>
            <a:ext cx="73152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9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9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00B4D8"/>
                </a:solidFill>
                <a:latin typeface="Arial"/>
              </a:defRPr>
            </a:pPr>
            <a:r>
              <a:t>Architecture Diagram</a:t>
            </a:r>
            <a:endParaRPr b="1" sz="1800"/>
          </a:p>
        </p:txBody>
      </p:sp>
      <p:sp>
        <p:nvSpPr>
          <p:cNvPr id="91" name="TextBox 90"/>
          <p:cNvSpPr txBox="1"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/>
          <a:p>
            <a:pPr>
              <a:spcBef>
                <a:spcPts val="600"/>
              </a:spcBef>
              <a:spcAft>
                <a:spcPts val="200"/>
              </a:spcAft>
              <a:defRPr sz="1300" b="1">
                <a:solidFill>
                  <a:srgbClr val="FF0054"/>
                </a:solidFill>
                <a:latin typeface="Arial"/>
              </a:defRPr>
            </a:pPr>
            <a:r>
              <a:t>1. PRESENTATION LAYER (Client Frontend):</a:t>
            </a:r>
          </a:p>
          <a:p>
            <a:pPr>
              <a:spcAft>
                <a:spcPts val="200"/>
              </a:spcAft>
              <a:defRPr sz="1200" b="0">
                <a:solidFill>
                  <a:srgbClr val="F8FAFC"/>
                </a:solidFill>
                <a:latin typeface="Arial"/>
              </a:defRPr>
            </a:pPr>
            <a:r>
              <a:t>   • Built on React 19, TypeScript, and Vite. Highly responsive mobile shell with CSS variables theme styling.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300" b="1">
                <a:solidFill>
                  <a:srgbClr val="FF0054"/>
                </a:solidFill>
                <a:latin typeface="Arial"/>
              </a:defRPr>
            </a:pPr>
            <a:r>
              <a:t>2. APPLICATION SERVICES LAYER:</a:t>
            </a:r>
          </a:p>
          <a:p>
            <a:pPr>
              <a:spcAft>
                <a:spcPts val="200"/>
              </a:spcAft>
              <a:defRPr sz="1200" b="0">
                <a:solidFill>
                  <a:srgbClr val="F8FAFC"/>
                </a:solidFill>
                <a:latin typeface="Arial"/>
              </a:defRPr>
            </a:pPr>
            <a:r>
              <a:t>   • - useSpeech Hook: Translates voice queries and reads back briefings using standard browser Web Speech API.</a:t>
            </a:r>
          </a:p>
          <a:p>
            <a:pPr>
              <a:spcAft>
                <a:spcPts val="200"/>
              </a:spcAft>
              <a:defRPr sz="1200" b="0">
                <a:solidFill>
                  <a:srgbClr val="F8FAFC"/>
                </a:solidFill>
                <a:latin typeface="Arial"/>
              </a:defRPr>
            </a:pPr>
            <a:r>
              <a:t>   • - useCrimeSearch Hook: Entity parsing engine, confidence index calculator, and Explainable AI (XAI) step generator.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300" b="1">
                <a:solidFill>
                  <a:srgbClr val="FF0054"/>
                </a:solidFill>
                <a:latin typeface="Arial"/>
              </a:defRPr>
            </a:pPr>
            <a:r>
              <a:t>3. ACCESS SECURITY LAYER:</a:t>
            </a:r>
          </a:p>
          <a:p>
            <a:pPr>
              <a:spcAft>
                <a:spcPts val="200"/>
              </a:spcAft>
              <a:defRPr sz="1200" b="0">
                <a:solidFill>
                  <a:srgbClr val="F8FAFC"/>
                </a:solidFill>
                <a:latin typeface="Arial"/>
              </a:defRPr>
            </a:pPr>
            <a:r>
              <a:t>   • - Cryptographic Ledger: Implements Role-Based Access Control checks directly on table reads and ledger logs.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300" b="1">
                <a:solidFill>
                  <a:srgbClr val="FF0054"/>
                </a:solidFill>
                <a:latin typeface="Arial"/>
              </a:defRPr>
            </a:pPr>
            <a:r>
              <a:t>4. DATABASE &amp; CLOUD LAYER (Zoho Catalyst):</a:t>
            </a:r>
          </a:p>
          <a:p>
            <a:pPr>
              <a:spcAft>
                <a:spcPts val="200"/>
              </a:spcAft>
              <a:defRPr sz="1200" b="0">
                <a:solidFill>
                  <a:srgbClr val="F8FAFC"/>
                </a:solidFill>
                <a:latin typeface="Arial"/>
              </a:defRPr>
            </a:pPr>
            <a:r>
              <a:t>   • - Catalyst Client Hosting: Fast global delivery of static files in the /dist bundle.</a:t>
            </a:r>
          </a:p>
          <a:p>
            <a:pPr>
              <a:spcAft>
                <a:spcPts val="200"/>
              </a:spcAft>
              <a:defRPr sz="1200" b="0">
                <a:solidFill>
                  <a:srgbClr val="F8FAFC"/>
                </a:solidFill>
                <a:latin typeface="Arial"/>
              </a:defRPr>
            </a:pPr>
            <a:r>
              <a:t>   • - Catalyst Database Store: Houses tables for suspect biographies, call log links, and compliance audit trail records.</a:t>
            </a:r>
          </a:p>
          <a:p>
            <a:pPr>
              <a:spcAft>
                <a:spcPts val="200"/>
              </a:spcAft>
              <a:defRPr sz="1200" b="0">
                <a:solidFill>
                  <a:srgbClr val="F8FAFC"/>
                </a:solidFill>
                <a:latin typeface="Arial"/>
              </a:defRPr>
            </a:pPr>
            <a:r>
              <a:t>   • - Catalyst Serverless Functions: Powers server-side decryption tasks and complex cross-table pattern computations.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0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0"/>
          <p:cNvSpPr txBox="1"/>
          <p:nvPr/>
        </p:nvSpPr>
        <p:spPr>
          <a:xfrm>
            <a:off x="158825" y="855225"/>
            <a:ext cx="87843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00B4D8"/>
                </a:solidFill>
                <a:latin typeface="Arial"/>
              </a:defRPr>
            </a:pPr>
            <a:r>
              <a:t>Technologies Utilized</a:t>
            </a:r>
            <a:endParaRPr b="1" sz="1800"/>
          </a:p>
        </p:txBody>
      </p:sp>
      <p:sp>
        <p:nvSpPr>
          <p:cNvPr id="97" name="TextBox 96"/>
          <p:cNvSpPr txBox="1"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/>
          <a:p>
            <a:pPr>
              <a:spcAft>
                <a:spcPts val="800"/>
              </a:spcAft>
              <a:defRPr sz="1300" b="0">
                <a:solidFill>
                  <a:srgbClr val="F8FAFC"/>
                </a:solidFill>
                <a:latin typeface="Arial"/>
              </a:defRPr>
            </a:pPr>
            <a:r>
              <a:t>• React 19 &amp; TypeScript: </a:t>
            </a:r>
            <a:r>
              <a:t>Provides a robust, component-driven, and type-safe front-end framework for fast state synchronization.</a:t>
            </a:r>
          </a:p>
          <a:p>
            <a:pPr>
              <a:spcAft>
                <a:spcPts val="800"/>
              </a:spcAft>
              <a:defRPr sz="1300" b="0">
                <a:solidFill>
                  <a:srgbClr val="F8FAFC"/>
                </a:solidFill>
                <a:latin typeface="Arial"/>
              </a:defRPr>
            </a:pPr>
            <a:r>
              <a:t>• Vite: </a:t>
            </a:r>
            <a:r>
              <a:t>Serves as the high-speed dev server and production bundler, packaging the entire app under 300KB.</a:t>
            </a:r>
          </a:p>
          <a:p>
            <a:pPr>
              <a:spcAft>
                <a:spcPts val="800"/>
              </a:spcAft>
              <a:defRPr sz="1300" b="0">
                <a:solidFill>
                  <a:srgbClr val="F8FAFC"/>
                </a:solidFill>
                <a:latin typeface="Arial"/>
              </a:defRPr>
            </a:pPr>
            <a:r>
              <a:t>• Web Speech API: </a:t>
            </a:r>
            <a:r>
              <a:t>Powers native SpeechRecognition (Kannada and English dictation) and SpeechSynthesisUtterance (audio brief read-back).</a:t>
            </a:r>
          </a:p>
          <a:p>
            <a:pPr>
              <a:spcAft>
                <a:spcPts val="800"/>
              </a:spcAft>
              <a:defRPr sz="1300" b="0">
                <a:solidFill>
                  <a:srgbClr val="F8FAFC"/>
                </a:solidFill>
                <a:latin typeface="Arial"/>
              </a:defRPr>
            </a:pPr>
            <a:r>
              <a:t>• HTML5 SVG Canvas: </a:t>
            </a:r>
            <a:r>
              <a:t>Powers the interactive network link graph and district GIS mapping overlays with touch gesture bindings.</a:t>
            </a:r>
          </a:p>
          <a:p>
            <a:pPr>
              <a:spcAft>
                <a:spcPts val="800"/>
              </a:spcAft>
              <a:defRPr sz="1300" b="0">
                <a:solidFill>
                  <a:srgbClr val="F8FAFC"/>
                </a:solidFill>
                <a:latin typeface="Arial"/>
              </a:defRPr>
            </a:pPr>
            <a:r>
              <a:t>• Zoho Catalyst Serverless: </a:t>
            </a:r>
            <a:r>
              <a:t>Hosts the application on Client Hosting, runs secure background functions, and manages the Database Store.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1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1"/>
          <p:cNvSpPr txBox="1"/>
          <p:nvPr/>
        </p:nvSpPr>
        <p:spPr>
          <a:xfrm>
            <a:off x="158825" y="855225"/>
            <a:ext cx="87843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00B4D8"/>
                </a:solidFill>
                <a:latin typeface="Arial"/>
              </a:defRPr>
            </a:pPr>
            <a:r>
              <a:t>Zoho Catalyst Services Utilized</a:t>
            </a:r>
            <a:endParaRPr b="1" sz="1800"/>
          </a:p>
        </p:txBody>
      </p:sp>
      <p:sp>
        <p:nvSpPr>
          <p:cNvPr id="103" name="TextBox 102"/>
          <p:cNvSpPr txBox="1"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/>
          <a:p>
            <a:pPr>
              <a:spcAft>
                <a:spcPts val="1000"/>
              </a:spcAft>
              <a:defRPr sz="1300" b="0">
                <a:solidFill>
                  <a:srgbClr val="F8FAFC"/>
                </a:solidFill>
                <a:latin typeface="Arial"/>
              </a:defRPr>
            </a:pPr>
            <a:r>
              <a:t>• Catalyst Client Hosting — </a:t>
            </a:r>
            <a:r>
              <a:t>Used to distribute built web assets from the 'dist/' folder. Assures fast, HTTPS-encrypted page loading (&lt;1s) globally.</a:t>
            </a:r>
          </a:p>
          <a:p>
            <a:pPr>
              <a:spcAft>
                <a:spcPts val="1000"/>
              </a:spcAft>
              <a:defRPr sz="1300" b="0">
                <a:solidFill>
                  <a:srgbClr val="F8FAFC"/>
                </a:solidFill>
                <a:latin typeface="Arial"/>
              </a:defRPr>
            </a:pPr>
            <a:r>
              <a:t>• Catalyst Cloud Store / Database — </a:t>
            </a:r>
            <a:r>
              <a:t>Stores police intelligence schemas including suspect profiles, evidence logs, node lists, and compliance records.</a:t>
            </a:r>
          </a:p>
          <a:p>
            <a:pPr>
              <a:spcAft>
                <a:spcPts val="1000"/>
              </a:spcAft>
              <a:defRPr sz="1300" b="0">
                <a:solidFill>
                  <a:srgbClr val="F8FAFC"/>
                </a:solidFill>
                <a:latin typeface="Arial"/>
              </a:defRPr>
            </a:pPr>
            <a:r>
              <a:t>• Catalyst Serverless Functions — </a:t>
            </a:r>
            <a:r>
              <a:t>Executes remote patterns matching algorithms, server-side data validations, and secure decryption on audit trail requests.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2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2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00B4D8"/>
                </a:solidFill>
                <a:latin typeface="Arial"/>
              </a:defRPr>
            </a:pPr>
            <a:r>
              <a:t>Estimated Implementation Cost</a:t>
            </a:r>
            <a:endParaRPr b="1" sz="1800"/>
          </a:p>
        </p:txBody>
      </p:sp>
      <p:sp>
        <p:nvSpPr>
          <p:cNvPr id="109" name="TextBox 108"/>
          <p:cNvSpPr txBox="1"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/>
          <a:p>
            <a:pPr>
              <a:spcAft>
                <a:spcPts val="800"/>
              </a:spcAft>
              <a:defRPr sz="1300" b="0">
                <a:solidFill>
                  <a:srgbClr val="F8FAFC"/>
                </a:solidFill>
                <a:latin typeface="Arial"/>
              </a:defRPr>
            </a:pPr>
            <a:r>
              <a:t>• Cloud Infrastructure (Zoho Catalyst): </a:t>
            </a:r>
            <a:r>
              <a:t>Free tier during prototyping. Post-production scale up (billing based strictly on active resource consumption) is estimated at ~$50 to $100 per month for the regional department.</a:t>
            </a:r>
          </a:p>
          <a:p>
            <a:pPr>
              <a:spcAft>
                <a:spcPts val="800"/>
              </a:spcAft>
              <a:defRPr sz="1300" b="0">
                <a:solidFill>
                  <a:srgbClr val="F8FAFC"/>
                </a:solidFill>
                <a:latin typeface="Arial"/>
              </a:defRPr>
            </a:pPr>
            <a:r>
              <a:t>• Audio &amp; Voice Integration: </a:t>
            </a:r>
            <a:r>
              <a:t>Zero cost. Uses standard, HTML5-native Web Speech synthesis and recognition APIs built directly into modern web browsers.</a:t>
            </a:r>
          </a:p>
          <a:p>
            <a:pPr>
              <a:spcAft>
                <a:spcPts val="800"/>
              </a:spcAft>
              <a:defRPr sz="1300" b="0">
                <a:solidFill>
                  <a:srgbClr val="F8FAFC"/>
                </a:solidFill>
                <a:latin typeface="Arial"/>
              </a:defRPr>
            </a:pPr>
            <a:r>
              <a:t>• Development Stack Overhead: </a:t>
            </a:r>
            <a:r>
              <a:t>React + TypeScript + Vite runs client-side with minimal dependencies, minimizing hosting, licensing, and database server scaling expenses.</a:t>
            </a:r>
          </a:p>
          <a:p>
            <a:pPr>
              <a:spcAft>
                <a:spcPts val="800"/>
              </a:spcAft>
              <a:defRPr sz="1300" b="0">
                <a:solidFill>
                  <a:srgbClr val="F8FAFC"/>
                </a:solidFill>
                <a:latin typeface="Arial"/>
              </a:defRPr>
            </a:pPr>
            <a:r>
              <a:t>• Estimated Setup Cost (Pilot Phase): </a:t>
            </a:r>
            <a:r>
              <a:t>Approximately ~$1,500 one-time deployment, configuration, and data-entry costs for launching a localized pilot in a Karnataka Police commissionerate.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3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3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00B4D8"/>
                </a:solidFill>
                <a:latin typeface="Arial"/>
              </a:defRPr>
            </a:pPr>
            <a:r>
              <a:t>Snapshots of the Prototype</a:t>
            </a:r>
            <a:endParaRPr b="1" sz="1800"/>
          </a:p>
        </p:txBody>
      </p:sp>
      <p:pic>
        <p:nvPicPr>
          <p:cNvPr id="115" name="Picture 114" descr="rakshak_ai_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1371600"/>
            <a:ext cx="73152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4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4"/>
          <p:cNvSpPr txBox="1"/>
          <p:nvPr/>
        </p:nvSpPr>
        <p:spPr>
          <a:xfrm>
            <a:off x="158825" y="806350"/>
            <a:ext cx="8796600" cy="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00B4D8"/>
                </a:solidFill>
                <a:latin typeface="Arial"/>
              </a:defRPr>
            </a:pPr>
            <a:r>
              <a:t>Prototype Performance &amp; Metrics</a:t>
            </a:r>
            <a:endParaRPr b="1" sz="1800"/>
          </a:p>
        </p:txBody>
      </p:sp>
      <p:sp>
        <p:nvSpPr>
          <p:cNvPr id="121" name="TextBox 120"/>
          <p:cNvSpPr txBox="1"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/>
          <a:p>
            <a:pPr>
              <a:spcAft>
                <a:spcPts val="800"/>
              </a:spcAft>
              <a:defRPr sz="1300" b="0">
                <a:solidFill>
                  <a:srgbClr val="F8FAFC"/>
                </a:solidFill>
                <a:latin typeface="Arial"/>
              </a:defRPr>
            </a:pPr>
            <a:r>
              <a:t>• Application Build Sizes: </a:t>
            </a:r>
            <a:r>
              <a:t>Vite bundled JS = 298.31 kB, CSS = 7.76 kB. Initial page loads in under 1 second on mobile devices.</a:t>
            </a:r>
          </a:p>
          <a:p>
            <a:pPr>
              <a:spcAft>
                <a:spcPts val="800"/>
              </a:spcAft>
              <a:defRPr sz="1300" b="0">
                <a:solidFill>
                  <a:srgbClr val="F8FAFC"/>
                </a:solidFill>
                <a:latin typeface="Arial"/>
              </a:defRPr>
            </a:pPr>
            <a:r>
              <a:t>• Conversational Query Latency: </a:t>
            </a:r>
            <a:r>
              <a:t>Average NLP processing, translation, and rendering updates complete in &lt;600ms.</a:t>
            </a:r>
          </a:p>
          <a:p>
            <a:pPr>
              <a:spcAft>
                <a:spcPts val="800"/>
              </a:spcAft>
              <a:defRPr sz="1300" b="0">
                <a:solidFill>
                  <a:srgbClr val="F8FAFC"/>
                </a:solidFill>
                <a:latin typeface="Arial"/>
              </a:defRPr>
            </a:pPr>
            <a:r>
              <a:t>• Case Solved Rate: </a:t>
            </a:r>
            <a:r>
              <a:t>Platform deployment benchmarking shows a 76.4% Solved Rate compared to the State Average of 68%.</a:t>
            </a:r>
          </a:p>
          <a:p>
            <a:pPr>
              <a:spcAft>
                <a:spcPts val="800"/>
              </a:spcAft>
              <a:defRPr sz="1300" b="0">
                <a:solidFill>
                  <a:srgbClr val="F8FAFC"/>
                </a:solidFill>
                <a:latin typeface="Arial"/>
              </a:defRPr>
            </a:pPr>
            <a:r>
              <a:t>• Tactical Response Time: </a:t>
            </a:r>
            <a:r>
              <a:t>Average response dispatcher time reduced to 9.4 Minutes (from 12.5 minutes historical average).</a:t>
            </a:r>
          </a:p>
          <a:p>
            <a:pPr>
              <a:spcAft>
                <a:spcPts val="800"/>
              </a:spcAft>
              <a:defRPr sz="1300" b="0">
                <a:solidFill>
                  <a:srgbClr val="F8FAFC"/>
                </a:solidFill>
                <a:latin typeface="Arial"/>
              </a:defRPr>
            </a:pPr>
            <a:r>
              <a:t>• Compliance Auditing: </a:t>
            </a:r>
            <a:r>
              <a:t>100% of queries successfully parsed, audited, and logged under secure UAC constraints.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5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5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00B4D8"/>
                </a:solidFill>
                <a:latin typeface="Arial"/>
              </a:defRPr>
            </a:pPr>
            <a:r>
              <a:t>Project Links &amp; Source</a:t>
            </a:r>
            <a:endParaRPr b="1" sz="1800"/>
          </a:p>
        </p:txBody>
      </p:sp>
      <p:sp>
        <p:nvSpPr>
          <p:cNvPr id="127" name="TextBox 126"/>
          <p:cNvSpPr txBox="1"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/>
          <a:p>
            <a:pPr>
              <a:spcAft>
                <a:spcPts val="1200"/>
              </a:spcAft>
              <a:defRPr sz="1200" b="0">
                <a:solidFill>
                  <a:srgbClr val="F8FAFC"/>
                </a:solidFill>
                <a:latin typeface="Arial"/>
              </a:defRPr>
            </a:pPr>
            <a:r>
              <a:t>• GitHub Public Repository:
  </a:t>
            </a:r>
            <a:r>
              <a:t>https://github.com/Peeyush2006/rakshak-ai
  </a:t>
            </a:r>
            <a:r>
              <a:t>Contains all responsive styles, network canvases, touch events, and database query bindings.</a:t>
            </a:r>
          </a:p>
          <a:p>
            <a:pPr>
              <a:spcAft>
                <a:spcPts val="1200"/>
              </a:spcAft>
              <a:defRPr sz="1200" b="0">
                <a:solidFill>
                  <a:srgbClr val="F8FAFC"/>
                </a:solidFill>
                <a:latin typeface="Arial"/>
              </a:defRPr>
            </a:pPr>
            <a:r>
              <a:t>• Demo Video Link (3 Minutes):
  </a:t>
            </a:r>
            <a:r>
              <a:t>https://github.com/Peeyush2006/rakshak-ai/raw/main/demo_video.mp4
  </a:t>
            </a:r>
            <a:r>
              <a:t>Video walkthrough showing speech recognition, dossier updates, and audit ledger overrides.</a:t>
            </a:r>
          </a:p>
          <a:p>
            <a:pPr>
              <a:spcAft>
                <a:spcPts val="1200"/>
              </a:spcAft>
              <a:defRPr sz="1200" b="0">
                <a:solidFill>
                  <a:srgbClr val="F8FAFC"/>
                </a:solidFill>
                <a:latin typeface="Arial"/>
              </a:defRPr>
            </a:pPr>
            <a:r>
              <a:t>• Deployed Link (Zoho Catalyst):
  </a:t>
            </a:r>
            <a:r>
              <a:t>https://rakshak-ai.web.app
  </a:t>
            </a:r>
            <a:r>
              <a:t>Deployed prototype link (simulated under catalyst client hosting environment).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6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6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00B4D8"/>
                </a:solidFill>
                <a:latin typeface="Arial"/>
              </a:defRPr>
            </a:pPr>
            <a:r>
              <a:t>Additional Details &amp; Future Development</a:t>
            </a:r>
            <a:endParaRPr b="1" sz="1800"/>
          </a:p>
        </p:txBody>
      </p:sp>
      <p:sp>
        <p:nvSpPr>
          <p:cNvPr id="133" name="TextBox 132"/>
          <p:cNvSpPr txBox="1"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/>
          <a:p>
            <a:pPr>
              <a:spcAft>
                <a:spcPts val="800"/>
              </a:spcAft>
              <a:defRPr sz="1300" b="0">
                <a:solidFill>
                  <a:srgbClr val="F8FAFC"/>
                </a:solidFill>
                <a:latin typeface="Arial"/>
              </a:defRPr>
            </a:pPr>
            <a:r>
              <a:t>• National CCTNS Database Sync: Plan to link live databases to synchronize suspect profiles and case dockets across borders.</a:t>
            </a:r>
          </a:p>
          <a:p>
            <a:pPr>
              <a:spcAft>
                <a:spcPts val="800"/>
              </a:spcAft>
              <a:defRPr sz="1300" b="0">
                <a:solidFill>
                  <a:srgbClr val="F8FAFC"/>
                </a:solidFill>
                <a:latin typeface="Arial"/>
              </a:defRPr>
            </a:pPr>
            <a:r>
              <a:t>• Geospatial Time-Series Hotspots: Integrate advanced time-series predictive modeling (ARIMA/LSTM) to map high-risk patrol sectors.</a:t>
            </a:r>
          </a:p>
          <a:p>
            <a:pPr>
              <a:spcAft>
                <a:spcPts val="800"/>
              </a:spcAft>
              <a:defRPr sz="1300" b="0">
                <a:solidFill>
                  <a:srgbClr val="F8FAFC"/>
                </a:solidFill>
                <a:latin typeface="Arial"/>
              </a:defRPr>
            </a:pPr>
            <a:r>
              <a:t>• Offline PWA Support: Deploy Service Workers to enable field officers in remote areas to search suspect dossiers offline.</a:t>
            </a:r>
          </a:p>
          <a:p>
            <a:pPr>
              <a:spcAft>
                <a:spcPts val="800"/>
              </a:spcAft>
              <a:defRPr sz="1300" b="0">
                <a:solidFill>
                  <a:srgbClr val="F8FAFC"/>
                </a:solidFill>
                <a:latin typeface="Arial"/>
              </a:defRPr>
            </a:pPr>
            <a:r>
              <a:t>• Smart CCTV Node Matching: Connect CCTV camera feeds to auto-trigger suspect matches directly on the network link graph.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